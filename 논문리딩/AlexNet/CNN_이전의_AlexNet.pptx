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4114800" cy="4114800"/>
          </a:xfrm>
          <a:prstGeom prst="ellipse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F346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AlexNet 이전의 CNN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CNN의 역사와 핵심 개념 이해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4224528"/>
            <a:ext cx="201168" cy="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38404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침체기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4224528"/>
            <a:ext cx="201168" cy="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38404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4224528"/>
            <a:ext cx="201168" cy="0"/>
          </a:xfrm>
          <a:prstGeom prst="line">
            <a:avLst/>
          </a:prstGeom>
          <a:noFill/>
          <a:ln w="19050">
            <a:solidFill>
              <a:srgbClr val="90E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38404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3840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입문 | CNN 역사편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 이전의 CNN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LeNet의 탄생부터 침체기까지 — CNN 역사를 한눈에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50592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87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542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핵심 개념 3가지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953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합성곱·풀링·완전연결층의 역할과 직관적 이해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21024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37124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당시 활성화 함수의 문제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1239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Sigmoid·Tanh의 한계와 기울기 소실 문제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 이전의 CNN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CNN의 역사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011680" cy="640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691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LeNet-1 탄생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1488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Yann LeCun이 손글씨 인식을 위해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최초의 실용적 CNN 개발.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우편번호 자동 인식에 실제 사용.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42032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09728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123444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679192" y="1234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LeNet-5 완성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1488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 CNN의 원형.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→ Pool → Conv → Pool → FC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구조를 체계화.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18304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18304" y="1097280"/>
            <a:ext cx="201168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55464" y="123444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4855464" y="1234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1691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침체기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21488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부족, 데이터 부족,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소실 문제로 CNN 연구 정체.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등 전통 ML이 우세.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94576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94576" y="109728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31736" y="123444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031736" y="1234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04304" y="16916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등장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04304" y="214884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Fei-Fei Li 주도로 1,400만 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 이미지 데이터셋 공개.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학습의 문이 열림.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AlexNet(2012): GPU + 대용량 데이터 + ReLU + Dropout 으로 딥러닝 혁명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LeNet-5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 CNN의 원형 (1998, Yann LeCun)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22960" cy="1554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17320"/>
            <a:ext cx="822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32×32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43000" y="2194560"/>
            <a:ext cx="1371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417320"/>
            <a:ext cx="960120" cy="1554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417320"/>
            <a:ext cx="960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filters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2194560"/>
            <a:ext cx="1371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417320"/>
            <a:ext cx="960120" cy="1554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417320"/>
            <a:ext cx="960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2194560"/>
            <a:ext cx="1371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417320"/>
            <a:ext cx="960120" cy="1554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417320"/>
            <a:ext cx="960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filters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2194560"/>
            <a:ext cx="1371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417320"/>
            <a:ext cx="960120" cy="1554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417320"/>
            <a:ext cx="960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32120" y="2194560"/>
            <a:ext cx="1371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417320"/>
            <a:ext cx="960120" cy="15544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417320"/>
            <a:ext cx="960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2194560"/>
            <a:ext cx="1371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417320"/>
            <a:ext cx="960120" cy="15544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417320"/>
            <a:ext cx="960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26680" y="2194560"/>
            <a:ext cx="1371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1417320"/>
            <a:ext cx="960120" cy="15544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1417320"/>
            <a:ext cx="960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classes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2651760" cy="1508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2461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337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합성곱 (Conv)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730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필터로 이미지에서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패턴과 특징 추출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64992" y="3246120"/>
            <a:ext cx="2651760" cy="1508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3" name="Shape 31"/>
          <p:cNvSpPr/>
          <p:nvPr/>
        </p:nvSpPr>
        <p:spPr>
          <a:xfrm>
            <a:off x="3364992" y="32461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2152" y="3337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풀링 (Pooling)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02152" y="3730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크기를 줄여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 효율 향상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2784" y="3246120"/>
            <a:ext cx="2651760" cy="1508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7" name="Shape 35"/>
          <p:cNvSpPr/>
          <p:nvPr/>
        </p:nvSpPr>
        <p:spPr>
          <a:xfrm>
            <a:off x="6272784" y="32461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3337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완전연결 (FC)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9944" y="37307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추출된 특징으로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분류 수행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핵심 개념 3가지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 핵심 개념 3가지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88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C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합성곱 층 (Convolutional Layer)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039112"/>
            <a:ext cx="118872" cy="11887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933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필터(커널)를 이미지 위에 슬라이딩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118872" cy="11887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517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엣지, 색상, 텍스처 등 특징(feature) 추출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355848"/>
            <a:ext cx="118872" cy="11887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101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공유로 매개변수 대폭 절감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4014216"/>
            <a:ext cx="118872" cy="11887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684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위치에 상관없이 동일한 패턴 인식 가능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109728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097280"/>
            <a:ext cx="2788920" cy="8229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3328416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C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 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28416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풀링 층 (Pooling Layer)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5848" y="2039112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19933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맵의 크기를 줄이는 다운샘플링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55848" y="2697480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26517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Pooling: 영역 내 최댓값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5848" y="3355848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33101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계산량과 메모리 사용 감소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5848" y="4014216"/>
            <a:ext cx="118872" cy="11887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39684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작은 위치 변화에 대한 강건성 부여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1097280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1097280"/>
            <a:ext cx="2788920" cy="8229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0" name="Text 28"/>
          <p:cNvSpPr/>
          <p:nvPr/>
        </p:nvSpPr>
        <p:spPr>
          <a:xfrm>
            <a:off x="6272784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C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72784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완전연결 층 (Fully Connected)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0216" y="2039112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096" y="19933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 층의 모든 뉴런과 연결된 전통 신경망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0216" y="2697480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26517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합성곱으로 추출한 특징을 1D로 펼침(Flatten)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0216" y="3355848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83096" y="33101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고차원 특징을 클래스 점수로 변환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0216" y="4014216"/>
            <a:ext cx="118872" cy="11887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3096" y="39684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분류(classification) 결정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합성곱 연산 — 직관적 이해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389120" cy="1188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235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필터 = 인간의 시각 뉴런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뇌의 시각 피질이 특정 방향의 선분에만 반응하듯, 필터도 특정 패턴(수평선, 수직선, 곡선 등)에만 활성화됩니다.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240280"/>
            <a:ext cx="4389120" cy="1188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951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🪟  슬라이딩 윈도우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필터가 이미지 위를 칸칸이 이동하며 각 위치에서 '얼마나 유사한지' 점수를 매깁니다. 이 점수 맵이 특징 맵(Feature Map)입니다.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611880"/>
            <a:ext cx="4389120" cy="1188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6674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가중치 공유 (Weight Sharing)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5079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필터를 전체 이미지에 공유해서 씁니다. 덕분에 매개변수 수가 극적으로 줄어들고, 위치 불변성을 얻게 됩니다.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맵(Feature Map) 생성 과정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23444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23444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23444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23444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23444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64592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1645920"/>
            <a:ext cx="411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645920"/>
            <a:ext cx="411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645920"/>
            <a:ext cx="411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64592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05740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2057400"/>
            <a:ext cx="411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2057400"/>
            <a:ext cx="411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057400"/>
            <a:ext cx="411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205740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246888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2468880"/>
            <a:ext cx="4114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46888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46888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246888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288036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49240" y="288036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2880360"/>
            <a:ext cx="411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288036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2880360"/>
            <a:ext cx="41148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1234440"/>
            <a:ext cx="1234440" cy="1234440"/>
          </a:xfrm>
          <a:prstGeom prst="rect">
            <a:avLst/>
          </a:prstGeom>
          <a:solidFill>
            <a:srgbClr val="00B4D8">
              <a:alpha val="30000"/>
            </a:srgbClr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이미지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176479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필터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86600" y="205740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9520" y="1645920"/>
            <a:ext cx="411480" cy="411480"/>
          </a:xfrm>
          <a:prstGeom prst="rect">
            <a:avLst/>
          </a:prstGeom>
          <a:solidFill>
            <a:srgbClr val="0D4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01000" y="1645920"/>
            <a:ext cx="411480" cy="411480"/>
          </a:xfrm>
          <a:prstGeom prst="rect">
            <a:avLst/>
          </a:prstGeom>
          <a:solidFill>
            <a:srgbClr val="1E7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0" y="1645920"/>
            <a:ext cx="411480" cy="411480"/>
          </a:xfrm>
          <a:prstGeom prst="rect">
            <a:avLst/>
          </a:prstGeom>
          <a:solidFill>
            <a:srgbClr val="0D4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89520" y="2057400"/>
            <a:ext cx="411480" cy="411480"/>
          </a:xfrm>
          <a:prstGeom prst="rect">
            <a:avLst/>
          </a:prstGeom>
          <a:solidFill>
            <a:srgbClr val="1E7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01000" y="2057400"/>
            <a:ext cx="411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0" y="2057400"/>
            <a:ext cx="411480" cy="411480"/>
          </a:xfrm>
          <a:prstGeom prst="rect">
            <a:avLst/>
          </a:prstGeom>
          <a:solidFill>
            <a:srgbClr val="1E7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468880"/>
            <a:ext cx="411480" cy="411480"/>
          </a:xfrm>
          <a:prstGeom prst="rect">
            <a:avLst/>
          </a:prstGeom>
          <a:solidFill>
            <a:srgbClr val="0D4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01000" y="2468880"/>
            <a:ext cx="411480" cy="411480"/>
          </a:xfrm>
          <a:prstGeom prst="rect">
            <a:avLst/>
          </a:prstGeom>
          <a:solidFill>
            <a:srgbClr val="1E7A9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480" y="2468880"/>
            <a:ext cx="411480" cy="411480"/>
          </a:xfrm>
          <a:prstGeom prst="rect">
            <a:avLst/>
          </a:prstGeom>
          <a:solidFill>
            <a:srgbClr val="0D4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당시 활성화 함수의 문제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당시 활성화 함수의 문제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61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Sigmoid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σ(x) = 1 / (1 + e⁻ˣ)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범위: (0, 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54864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591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 끝(0, 1 근처)에서 기울기 ≈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907792"/>
            <a:ext cx="54864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87121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소실(Vanishing Gradient) 발생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419856"/>
            <a:ext cx="54864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383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출력이 0 중심이 아님 → 학습 비효율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931920"/>
            <a:ext cx="54864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89534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연산으로 계산 비용 높음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97280"/>
            <a:ext cx="402336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161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Tanh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3776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tanh(x) = (eˣ - e⁻ˣ) / (eˣ + e⁻ˣ)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범위: (-1, 1)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2395728"/>
            <a:ext cx="5486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23591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Sigmoid보다 나은 0 중심 출력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56048" y="2907792"/>
            <a:ext cx="5486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287121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여전히 양 끝에서 기울기 ≈ 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3419856"/>
            <a:ext cx="5486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3383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 소실 문제 여전히 존재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56048" y="3931920"/>
            <a:ext cx="5486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389534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깊은 네트워크에서 학습 불안정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2468880"/>
            <a:ext cx="713232" cy="713232"/>
          </a:xfrm>
          <a:prstGeom prst="ellipse">
            <a:avLst/>
          </a:prstGeom>
          <a:solidFill>
            <a:srgbClr val="1A1A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60520" y="246888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기울기 소실 (Vanishing Gradient)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깊은 네트워크는 학습이 어려웠나?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32004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기울기: 1.000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901952"/>
            <a:ext cx="2560320" cy="457200"/>
          </a:xfrm>
          <a:prstGeom prst="rect">
            <a:avLst/>
          </a:prstGeom>
          <a:solidFill>
            <a:srgbClr val="00B4D8">
              <a:alpha val="8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01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 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901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기울기: 0.250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615184"/>
            <a:ext cx="1920240" cy="457200"/>
          </a:xfrm>
          <a:prstGeom prst="rect">
            <a:avLst/>
          </a:prstGeom>
          <a:solidFill>
            <a:srgbClr val="00B4D8">
              <a:alpha val="6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151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6151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기울기: 0.063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3328416"/>
            <a:ext cx="1280160" cy="457200"/>
          </a:xfrm>
          <a:prstGeom prst="rect">
            <a:avLst/>
          </a:prstGeom>
          <a:solidFill>
            <a:srgbClr val="00B4D8">
              <a:alpha val="4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284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328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기울기: 0.016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4041648"/>
            <a:ext cx="640080" cy="457200"/>
          </a:xfrm>
          <a:prstGeom prst="rect">
            <a:avLst/>
          </a:prstGeom>
          <a:solidFill>
            <a:srgbClr val="00B4D8">
              <a:alpha val="2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 1 (입력)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4041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기울기: 0.004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역전파 방향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188720"/>
            <a:ext cx="3246120" cy="1097280"/>
          </a:xfrm>
          <a:prstGeom prst="rect">
            <a:avLst/>
          </a:prstGeom>
          <a:solidFill>
            <a:srgbClr val="7F1D1D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0" y="1188720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12435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문제의 원인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15910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Sigmoid/Tanh 미분값이 최대 0.25.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층이 깊어질수록 곱해져서 0에 수렴.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2450592"/>
            <a:ext cx="3246120" cy="1097280"/>
          </a:xfrm>
          <a:prstGeom prst="rect">
            <a:avLst/>
          </a:prstGeom>
          <a:solidFill>
            <a:srgbClr val="92400E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0" y="2450592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2505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28529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초기층의 가중치가 거의 업데이트 되지 않음.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깊은 신경망 훈련 사실상 불가.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3712464"/>
            <a:ext cx="3246120" cy="1097280"/>
          </a:xfrm>
          <a:prstGeom prst="rect">
            <a:avLst/>
          </a:prstGeom>
          <a:solidFill>
            <a:srgbClr val="065F46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0" y="3712464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3767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 → ReLU (2012)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ReLU(x) = max(0, 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양수 구간 기울기 = 1 → 소실 없음!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AlexNet에서 처음 대규모 적용.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정리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04672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15568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0700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20700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LeNet이 CNN을 시작했다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7276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1998년 LeNet-5가 합성곱·풀링·완전연결층 구조를 정립. 하지만 컴퓨팅 파워와 데이터 부족으로 10년간 침체.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04672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04288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239572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3가지 핵심 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76148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합성곱(특징 추출) → 풀링(크기 감소) → FC(분류). 이 구조는 현재 CNN의 뼈대가 된다.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804672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493008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84448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358444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활성화 함수가 발목을 잡았다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95020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Sigmoid·Tanh의 기울기 소실로 깊은 학습 불가. AlexNet의 ReLU 도입이 이 문제를 해결하며 딥러닝 혁명을 일으킴.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→ AlexNet이 이 모든 문제를 어떻게 해결했는가?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AlexNet 이전의 CNN</dc:title>
  <dc:subject>PptxGenJS Presentation</dc:subject>
  <dc:creator>PptxGenJS</dc:creator>
  <cp:lastModifiedBy>PptxGenJS</cp:lastModifiedBy>
  <cp:revision>1</cp:revision>
  <dcterms:created xsi:type="dcterms:W3CDTF">2026-04-12T03:49:28Z</dcterms:created>
  <dcterms:modified xsi:type="dcterms:W3CDTF">2026-04-12T03:49:28Z</dcterms:modified>
</cp:coreProperties>
</file>